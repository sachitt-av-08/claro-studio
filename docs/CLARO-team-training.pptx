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we exist: most AI app builders are chat boxes that produce text. CLARO is a real IDE where AI edits are structured, reversible, and fully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the demo from this framing: 'the demo runs entirely on this laptop. There is no network hop.'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panel is a real screenshot of the app rendering the exact source on the left. Point at each pipeline card as you explain the flow. 21 block elements in the DSL.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'ree upd tne speling' is not a typo in the deck — it's the demo. Typos survive.
Show the 60-second cheat-sheet challenge to a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code regeneration on every change. Ops validate against the live project model. That is what makes 'step back' instant.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Four-mode classification is the visible AI; the guardrail is the invisible safety.
Demo: '# make the hero pop' enters the right mode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Carries the whole theme. Say: simple asks never wake the 3B model — the metric strip counts them live.
Fallback: cold start loads the embedder; verbalize it and keep moving.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real numbers from the metric strip during rehearsal. If embeddings are slow on first call, say so and keep moving.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asks 'where does this run' — this laptop, Ollama on localhost, no Wi-Fi needed. Privacy is judge bait at edge-AI hackathons; make it a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happens in the tour. Deliver: 'I said it in English; it edited the file; I can undo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three times before the venue. The whole demo is one keyboard shortcut + three clicks.
The 'after' screenshot is the same source, rendered after the exact pre-filled prompt was applied.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maps to a real failure mode we hit. The consistent theme: the product degrades gracefully on purpose — say that instead of apologising.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on the team can answer all six cold. Insurance line: 'we never claim unlimited scale — we claim it runs here, and you can undo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each teammate this slide memorized — they should able to hand-type a screen in front of a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features → layers: preview→1, typo tolerance→2, undo→2, AI ops→3, gate→3+4.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Filling the metric-strip numbers is part of rehearsal: run the tour once, read the real counts, then re-record. Live beats slides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the tour twice, read the fallback card once, let the metric strip speak. Good luck,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image" Target="../media/image-2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chi\AppData\Local\Temp\opencode\aurora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2">
              <a:alpha val="6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57200" y="8686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it. edit it. undo it.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112745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CLARO</a:t>
            </a:r>
            <a:endParaRPr lang="en-US" sz="9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803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on-device, reversible AI workbench for building screens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520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 the horizon 3.0  ·  edge AI  ·  everything runs on this laptop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424160" y="502920"/>
            <a:ext cx="1051560" cy="1051560"/>
          </a:xfrm>
          <a:prstGeom prst="roundRect">
            <a:avLst>
              <a:gd name="adj" fmla="val 20870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9" name="Image 1" descr="C:\Users\sachi\AppData\Local\Temp\opencode\icon-win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713232"/>
            <a:ext cx="630936" cy="6309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42062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2121A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457200" y="43708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7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~4ms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5029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DECIDES A SIMPLE ASK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251960" y="42062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2121A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4251960" y="43708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7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3B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4251960" y="5029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WAKES ON EASY REQUESTS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42062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2121A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046720" y="43708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A7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8046720" y="50292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ON-DEVICE, OFFLINE-FIRST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local model + a smart gate = AI edits you can undo, privately, offline.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 · Hack the Horizon 3.0 · team training deck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EDGE AI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 we are avoiding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454396" cy="1170432"/>
          </a:xfrm>
          <a:prstGeom prst="roundRect">
            <a:avLst>
              <a:gd name="adj" fmla="val 9375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048256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85149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9" name="Image 0" descr="C:\Users\sachi\AppData\Local\Temp\opencode\icon-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157984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1883664"/>
            <a:ext cx="4265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2212848"/>
            <a:ext cx="42656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leaves the laptop; latency, cost, privacy, and a demo that dies without Wi-Fi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5454396" cy="1170432"/>
          </a:xfrm>
          <a:prstGeom prst="roundRect">
            <a:avLst>
              <a:gd name="adj" fmla="val 9375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" y="3419856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85149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14" name="Image 1" descr="C:\Users\sachi\AppData\Local\Temp\opencode\icon-wa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529584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3255264"/>
            <a:ext cx="4265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70B-CLASS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3584448"/>
            <a:ext cx="42656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impressive until you can't run it on the judges' table, offline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4480560"/>
            <a:ext cx="5454396" cy="1170432"/>
          </a:xfrm>
          <a:prstGeom prst="roundRect">
            <a:avLst>
              <a:gd name="adj" fmla="val 9375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85800" y="4791456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85149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19" name="Image 2" descr="C:\Users\sachi\AppData\Local\Temp\opencode\icon-w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901184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17320" y="4626864"/>
            <a:ext cx="4265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NOT EDITOR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1417320" y="4956048"/>
            <a:ext cx="42656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suggestions you can't undo are not a product — they're a demo of a demo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277356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A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6277356" y="1737360"/>
            <a:ext cx="5454396" cy="1170432"/>
          </a:xfrm>
          <a:prstGeom prst="roundRect">
            <a:avLst>
              <a:gd name="adj" fmla="val 9375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05956" y="2048256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2EA043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25" name="Image 3" descr="C:\Users\sachi\AppData\Local\Temp\opencode\icon-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2157984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237476" y="1883664"/>
            <a:ext cx="4265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7237476" y="2212848"/>
            <a:ext cx="42656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qwen2.5:3b + nomic-embed-text. offline first.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277356" y="3108960"/>
            <a:ext cx="5454396" cy="1170432"/>
          </a:xfrm>
          <a:prstGeom prst="roundRect">
            <a:avLst>
              <a:gd name="adj" fmla="val 9375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505956" y="3419856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2EA043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30" name="Image 4" descr="C:\Users\sachi\AppData\Local\Temp\opencode\icon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684" y="3529584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37476" y="3255264"/>
            <a:ext cx="4265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+ GATED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7237476" y="3584448"/>
            <a:ext cx="42656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gate means the 3B model sleeps on easy asks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6277356" y="4480560"/>
            <a:ext cx="5454396" cy="1170432"/>
          </a:xfrm>
          <a:prstGeom prst="roundRect">
            <a:avLst>
              <a:gd name="adj" fmla="val 9375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505956" y="4791456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2EA043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35" name="Image 5" descr="C:\Users\sachi\AppData\Local\Temp\opencode\icon-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684" y="4901184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237476" y="4626864"/>
            <a:ext cx="42656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</a:t>
            </a:r>
            <a:endParaRPr lang="en-US" sz="1350" dirty="0"/>
          </a:p>
        </p:txBody>
      </p:sp>
      <p:sp>
        <p:nvSpPr>
          <p:cNvPr id="37" name="Text 29"/>
          <p:cNvSpPr txBox="1"/>
          <p:nvPr/>
        </p:nvSpPr>
        <p:spPr>
          <a:xfrm>
            <a:off x="7237476" y="4956048"/>
            <a:ext cx="42656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edit is a PatchOp; undo is structurally free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care less about model size and more about: does it run here, offline, and can a person drive it?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problem &amp; answer</a:t>
            </a:r>
            <a:endParaRPr lang="en-US" sz="900" dirty="0"/>
          </a:p>
        </p:txBody>
      </p:sp>
      <p:sp>
        <p:nvSpPr>
          <p:cNvPr id="40" name="Text 32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PICTURE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whole app, from 150 lines of text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12898" cy="1874520"/>
          </a:xfrm>
          <a:prstGeom prst="roundRect">
            <a:avLst>
              <a:gd name="adj" fmla="val 5854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6177" y="1536192"/>
            <a:ext cx="694944" cy="694944"/>
          </a:xfrm>
          <a:prstGeom prst="roundRect">
            <a:avLst>
              <a:gd name="adj" fmla="val 31579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0" descr="C:\Users\sachi\AppData\Local\Temp\opencode\icon-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166" y="1675181"/>
            <a:ext cx="416966" cy="41696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2377440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697480"/>
            <a:ext cx="2338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.cl file: pages, sections, elements in plain words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44418" y="1371600"/>
            <a:ext cx="2612898" cy="1874520"/>
          </a:xfrm>
          <a:prstGeom prst="roundRect">
            <a:avLst>
              <a:gd name="adj" fmla="val 5854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3395" y="1536192"/>
            <a:ext cx="694944" cy="694944"/>
          </a:xfrm>
          <a:prstGeom prst="roundRect">
            <a:avLst>
              <a:gd name="adj" fmla="val 31579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13" name="Image 1" descr="C:\Users\sachi\AppData\Local\Temp\opencode\icon-win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384" y="1675181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81578" y="2377440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481578" y="2697480"/>
            <a:ext cx="2338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instantly and deterministically — no build step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31636" y="1371600"/>
            <a:ext cx="2612898" cy="1874520"/>
          </a:xfrm>
          <a:prstGeom prst="roundRect">
            <a:avLst>
              <a:gd name="adj" fmla="val 5854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90613" y="1536192"/>
            <a:ext cx="694944" cy="694944"/>
          </a:xfrm>
          <a:prstGeom prst="roundRect">
            <a:avLst>
              <a:gd name="adj" fmla="val 31579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18" name="Image 2" descr="C:\Users\sachi\AppData\Local\Temp\opencode\icon-sm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602" y="1675181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68796" y="2377440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368796" y="2697480"/>
            <a:ext cx="2338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in; structured edit ops out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118854" y="1371600"/>
            <a:ext cx="2612898" cy="1874520"/>
          </a:xfrm>
          <a:prstGeom prst="roundRect">
            <a:avLst>
              <a:gd name="adj" fmla="val 5854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77831" y="1536192"/>
            <a:ext cx="694944" cy="694944"/>
          </a:xfrm>
          <a:prstGeom prst="roundRect">
            <a:avLst>
              <a:gd name="adj" fmla="val 31579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23" name="Image 3" descr="C:\Users\sachi\AppData\Local\Temp\opencode\icon-hist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820" y="1675181"/>
            <a:ext cx="416966" cy="41696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56014" y="2377440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9256014" y="2697480"/>
            <a:ext cx="2338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edit lands in Stitch, reversible one step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57200" y="3520440"/>
            <a:ext cx="5852160" cy="2743200"/>
          </a:xfrm>
          <a:prstGeom prst="roundRect">
            <a:avLst>
              <a:gd name="adj" fmla="val 4000"/>
            </a:avLst>
          </a:prstGeom>
          <a:solidFill>
            <a:srgbClr val="0E0E15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731520" y="3602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source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777240" y="3913632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299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page Aurora {
</a:t>
            </a:r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navbar {
</a:t>
            </a:r>
            <a:pPr indent="0" marL="0">
              <a:buNone/>
            </a:pPr>
            <a:r>
              <a:rPr lang="en-US" sz="1150" dirty="0">
                <a:solidFill>
                  <a:srgbClr val="2EA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button "Get Aurora" { variant: primary }
</a:t>
            </a:r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
</a:t>
            </a:r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section hero {
</a:t>
            </a:r>
            <a:pPr indent="0" marL="0">
              <a:buNone/>
            </a:pPr>
            <a:r>
              <a:rPr lang="en-US" sz="1150" dirty="0">
                <a:solidFill>
                  <a:srgbClr val="EDED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heading "Ship the screen you can already see"
</a:t>
            </a:r>
            <a:pPr indent="0" marL="0">
              <a:buNone/>
            </a:pPr>
            <a:r>
              <a:rPr lang="en-US" sz="1150" dirty="0">
                <a:solidFill>
                  <a:srgbClr val="2EA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button "Start building" { variant: primary }
</a:t>
            </a:r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
</a:t>
            </a:r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537960" y="3520440"/>
            <a:ext cx="5193792" cy="2743200"/>
          </a:xfrm>
          <a:prstGeom prst="roundRect">
            <a:avLst>
              <a:gd name="adj" fmla="val 4000"/>
            </a:avLst>
          </a:prstGeom>
          <a:solidFill>
            <a:srgbClr val="0B0B10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6812280" y="36027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preview — no mockup</a:t>
            </a:r>
            <a:endParaRPr lang="en-US" sz="1000" dirty="0"/>
          </a:p>
        </p:txBody>
      </p:sp>
      <p:pic>
        <p:nvPicPr>
          <p:cNvPr id="31" name="Image 4" descr="C:\Users\sachi\AppData\Local\Temp\opencode\hero-cr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3931920"/>
            <a:ext cx="4334256" cy="225856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one picture of the product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60-SECOND LANGUAGE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parser never cries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575304" cy="2743200"/>
          </a:xfrm>
          <a:prstGeom prst="roundRect">
            <a:avLst>
              <a:gd name="adj" fmla="val 4000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60804" y="1645920"/>
            <a:ext cx="768096" cy="768096"/>
          </a:xfrm>
          <a:prstGeom prst="roundRect">
            <a:avLst>
              <a:gd name="adj" fmla="val 23810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860804" y="16459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34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case-insensitive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97180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"HELLO" and "hello" are the same thing. indentation is never meaning.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6824" y="1417320"/>
            <a:ext cx="3575304" cy="2743200"/>
          </a:xfrm>
          <a:prstGeom prst="roundRect">
            <a:avLst>
              <a:gd name="adj" fmla="val 4000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10428" y="1645920"/>
            <a:ext cx="768096" cy="768096"/>
          </a:xfrm>
          <a:prstGeom prst="roundRect">
            <a:avLst>
              <a:gd name="adj" fmla="val 23810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710428" y="16459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</a:t>
            </a:r>
            <a:endParaRPr lang="en-US" sz="34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26060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filler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35424" y="297180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an / the / then / extra spaces and semicolons are silently skipped.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6448" y="1417320"/>
            <a:ext cx="3575304" cy="2743200"/>
          </a:xfrm>
          <a:prstGeom prst="roundRect">
            <a:avLst>
              <a:gd name="adj" fmla="val 4000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560052" y="1645920"/>
            <a:ext cx="768096" cy="768096"/>
          </a:xfrm>
          <a:prstGeom prst="roundRect">
            <a:avLst>
              <a:gd name="adj" fmla="val 23810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560052" y="164592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4" dirty="0"/>
          </a:p>
        </p:txBody>
      </p:sp>
      <p:sp>
        <p:nvSpPr>
          <p:cNvPr id="19" name="Text 17"/>
          <p:cNvSpPr txBox="1"/>
          <p:nvPr/>
        </p:nvSpPr>
        <p:spPr>
          <a:xfrm>
            <a:off x="8385048" y="26060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did-you-mean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385048" y="2971800"/>
            <a:ext cx="3118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words degrade to suggestions, never a crash. a judge can mash keys.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11274552" cy="1234440"/>
          </a:xfrm>
          <a:prstGeom prst="roundRect">
            <a:avLst>
              <a:gd name="adj" fmla="val 8889"/>
            </a:avLst>
          </a:prstGeom>
          <a:solidFill>
            <a:srgbClr val="22222F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4892040"/>
            <a:ext cx="10634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wins:  </a:t>
            </a:r>
            <a:pPr indent="0" marL="0">
              <a:buNone/>
            </a:pPr>
            <a:r>
              <a:rPr lang="en-US" sz="14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stranger with zero training can type a screen in ~60 seconds — and mistakes become helpful diagnostics instead of dead ends. try: "ree upd tne speling". still works.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forgiveness as a feature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EDITS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is structural, not cosmetic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change is a typed, reversible operation — a PatchOp with an inverse: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12898" cy="1097280"/>
          </a:xfrm>
          <a:prstGeom prst="roundRect">
            <a:avLst>
              <a:gd name="adj" fmla="val 10000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874520"/>
            <a:ext cx="2247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A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set_property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94560"/>
            <a:ext cx="2247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prop (color, size, gap)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44418" y="1783080"/>
            <a:ext cx="2612898" cy="1097280"/>
          </a:xfrm>
          <a:prstGeom prst="roundRect">
            <a:avLst>
              <a:gd name="adj" fmla="val 10000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27298" y="1874520"/>
            <a:ext cx="2247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A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set_text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7298" y="2194560"/>
            <a:ext cx="2247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element text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1636" y="1783080"/>
            <a:ext cx="2612898" cy="1097280"/>
          </a:xfrm>
          <a:prstGeom prst="roundRect">
            <a:avLst>
              <a:gd name="adj" fmla="val 10000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14516" y="1874520"/>
            <a:ext cx="2247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A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add_element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14516" y="2194560"/>
            <a:ext cx="2247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node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18854" y="1783080"/>
            <a:ext cx="2612898" cy="1097280"/>
          </a:xfrm>
          <a:prstGeom prst="roundRect">
            <a:avLst>
              <a:gd name="adj" fmla="val 10000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01734" y="1874520"/>
            <a:ext cx="2247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A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remove_element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01734" y="2194560"/>
            <a:ext cx="2247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node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612898" cy="1097280"/>
          </a:xfrm>
          <a:prstGeom prst="roundRect">
            <a:avLst>
              <a:gd name="adj" fmla="val 10000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" y="3200400"/>
            <a:ext cx="2247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A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move_element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520440"/>
            <a:ext cx="2247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in a layout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44418" y="3108960"/>
            <a:ext cx="2612898" cy="1097280"/>
          </a:xfrm>
          <a:prstGeom prst="roundRect">
            <a:avLst>
              <a:gd name="adj" fmla="val 10000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527298" y="3200400"/>
            <a:ext cx="2247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A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set_layout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527298" y="3520440"/>
            <a:ext cx="2247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row→stack→grid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31636" y="3108960"/>
            <a:ext cx="2612898" cy="1097280"/>
          </a:xfrm>
          <a:prstGeom prst="roundRect">
            <a:avLst>
              <a:gd name="adj" fmla="val 10000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14516" y="3200400"/>
            <a:ext cx="2247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A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set_effects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14516" y="3520440"/>
            <a:ext cx="2247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aurora, glow, particles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18854" y="3108960"/>
            <a:ext cx="2612898" cy="1097280"/>
          </a:xfrm>
          <a:prstGeom prst="roundRect">
            <a:avLst>
              <a:gd name="adj" fmla="val 10000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301734" y="3200400"/>
            <a:ext cx="22471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A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clear_property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301734" y="3520440"/>
            <a:ext cx="2247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to default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892040"/>
            <a:ext cx="11274552" cy="914400"/>
          </a:xfrm>
          <a:prstGeom prst="roundRect">
            <a:avLst>
              <a:gd name="adj" fmla="val 12000"/>
            </a:avLst>
          </a:prstGeom>
          <a:solidFill>
            <a:srgbClr val="22222F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77240" y="50749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edits are ops with inverses,  </a:t>
            </a:r>
            <a:pPr indent="0" marL="0">
              <a:buNone/>
            </a:pPr>
            <a:r>
              <a:rPr lang="en-US" sz="14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"undo" is a real rewind of exactly what AI did — not an LLM re-parsing from memory.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the reason undo works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INSIDE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BHASM: one panel, four intents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12898" cy="2651760"/>
          </a:xfrm>
          <a:prstGeom prst="roundRect">
            <a:avLst>
              <a:gd name="adj" fmla="val 419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6177" y="1600200"/>
            <a:ext cx="694944" cy="694944"/>
          </a:xfrm>
          <a:prstGeom prst="roundRect">
            <a:avLst>
              <a:gd name="adj" fmla="val 31579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0" descr="C:\Users\sachi\AppData\Local\Temp\opencode\icon-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166" y="1739189"/>
            <a:ext cx="416966" cy="41696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2468880"/>
            <a:ext cx="2338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834640"/>
            <a:ext cx="2338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this 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3401568"/>
            <a:ext cx="2338578" cy="457200"/>
          </a:xfrm>
          <a:prstGeom prst="roundRect">
            <a:avLst>
              <a:gd name="adj" fmla="val 50000"/>
            </a:avLst>
          </a:prstGeom>
          <a:solidFill>
            <a:srgbClr val="22222F"/>
          </a:solidFill>
          <a:ln w="12700">
            <a:solidFill>
              <a:srgbClr val="2E2E4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3401568"/>
            <a:ext cx="2338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/ inspect / answer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44418" y="1417320"/>
            <a:ext cx="2612898" cy="2651760"/>
          </a:xfrm>
          <a:prstGeom prst="roundRect">
            <a:avLst>
              <a:gd name="adj" fmla="val 419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03395" y="1600200"/>
            <a:ext cx="694944" cy="694944"/>
          </a:xfrm>
          <a:prstGeom prst="roundRect">
            <a:avLst>
              <a:gd name="adj" fmla="val 31579"/>
            </a:avLst>
          </a:prstGeom>
          <a:solidFill>
            <a:srgbClr val="2EA043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15" name="Image 1" descr="C:\Users\sachi\AppData\Local\Temp\opencode\icon-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384" y="1739189"/>
            <a:ext cx="416966" cy="41696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81578" y="2468880"/>
            <a:ext cx="2338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A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481578" y="2834640"/>
            <a:ext cx="2338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concrete change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481578" y="3401568"/>
            <a:ext cx="2338578" cy="457200"/>
          </a:xfrm>
          <a:prstGeom prst="roundRect">
            <a:avLst>
              <a:gd name="adj" fmla="val 50000"/>
            </a:avLst>
          </a:prstGeom>
          <a:solidFill>
            <a:srgbClr val="22222F"/>
          </a:solidFill>
          <a:ln w="12700">
            <a:solidFill>
              <a:srgbClr val="2E2E4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481578" y="3401568"/>
            <a:ext cx="2338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+ apply patch ops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31636" y="1417320"/>
            <a:ext cx="2612898" cy="2651760"/>
          </a:xfrm>
          <a:prstGeom prst="roundRect">
            <a:avLst>
              <a:gd name="adj" fmla="val 419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190613" y="1600200"/>
            <a:ext cx="694944" cy="694944"/>
          </a:xfrm>
          <a:prstGeom prst="roundRect">
            <a:avLst>
              <a:gd name="adj" fmla="val 31579"/>
            </a:avLst>
          </a:prstGeom>
          <a:solidFill>
            <a:srgbClr val="D29922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22" name="Image 2" descr="C:\Users\sachi\AppData\Local\Temp\opencode\icon-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602" y="1739189"/>
            <a:ext cx="416966" cy="41696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368796" y="2468880"/>
            <a:ext cx="2338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368796" y="2834640"/>
            <a:ext cx="2338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problems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368796" y="3401568"/>
            <a:ext cx="2338578" cy="457200"/>
          </a:xfrm>
          <a:prstGeom prst="roundRect">
            <a:avLst>
              <a:gd name="adj" fmla="val 50000"/>
            </a:avLst>
          </a:prstGeom>
          <a:solidFill>
            <a:srgbClr val="22222F"/>
          </a:solidFill>
          <a:ln w="12700">
            <a:solidFill>
              <a:srgbClr val="2E2E4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368796" y="3401568"/>
            <a:ext cx="2338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checks + LLM feedback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118854" y="1417320"/>
            <a:ext cx="2612898" cy="2651760"/>
          </a:xfrm>
          <a:prstGeom prst="roundRect">
            <a:avLst>
              <a:gd name="adj" fmla="val 419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0077831" y="1600200"/>
            <a:ext cx="694944" cy="694944"/>
          </a:xfrm>
          <a:prstGeom prst="roundRect">
            <a:avLst>
              <a:gd name="adj" fmla="val 31579"/>
            </a:avLst>
          </a:prstGeom>
          <a:solidFill>
            <a:srgbClr val="8F6CFF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29" name="Image 3" descr="C:\Users\sachi\AppData\Local\Temp\opencode\icon-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820" y="1739189"/>
            <a:ext cx="416966" cy="41696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256014" y="2468880"/>
            <a:ext cx="2338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9256014" y="2834640"/>
            <a:ext cx="2338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conversation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256014" y="3401568"/>
            <a:ext cx="2338578" cy="457200"/>
          </a:xfrm>
          <a:prstGeom prst="roundRect">
            <a:avLst>
              <a:gd name="adj" fmla="val 50000"/>
            </a:avLst>
          </a:prstGeom>
          <a:solidFill>
            <a:srgbClr val="22222F"/>
          </a:solidFill>
          <a:ln w="12700">
            <a:solidFill>
              <a:srgbClr val="2E2E40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9256014" y="3401568"/>
            <a:ext cx="2338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do / casual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57200" y="4434840"/>
            <a:ext cx="11274552" cy="1371600"/>
          </a:xfrm>
          <a:prstGeom prst="roundRect">
            <a:avLst>
              <a:gd name="adj" fmla="val 8000"/>
            </a:avLst>
          </a:prstGeom>
          <a:solidFill>
            <a:srgbClr val="22222F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35" name="Text 29"/>
          <p:cNvSpPr txBox="1"/>
          <p:nvPr/>
        </p:nvSpPr>
        <p:spPr>
          <a:xfrm>
            <a:off x="777240" y="470916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guardrail:  </a:t>
            </a:r>
            <a:pPr indent="0" marL="0">
              <a:buNone/>
            </a:pPr>
            <a:r>
              <a:rPr lang="en-US" sz="14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AI ops apply, a decision layer approves or rejects them. confident reject → blocked. unsure → allowed through — a wrong apply must never be worse than no apply.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BHASM panel + guardrail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EDGE-AI STORY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makes the 3B model lazy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07008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requests are simple. a tiny local embedding model decides first — the big model only wakes for the hard 10%.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1274552" cy="3108960"/>
          </a:xfrm>
          <a:prstGeom prst="roundRect">
            <a:avLst>
              <a:gd name="adj" fmla="val 3529"/>
            </a:avLst>
          </a:prstGeom>
          <a:solidFill>
            <a:srgbClr val="0E0E15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C:\Users\sachi\AppData\Local\Temp\opencode\gate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873252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5074920"/>
            <a:ext cx="11274552" cy="868680"/>
          </a:xfrm>
          <a:prstGeom prst="roundRect">
            <a:avLst>
              <a:gd name="adj" fmla="val 12632"/>
            </a:avLst>
          </a:prstGeom>
          <a:solidFill>
            <a:srgbClr val="22222F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525780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framing: we did not try to run a big model on-device — we made the small one earn its keep.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the gate = the edge-AI story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LIVE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~4ms vs seconds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7223760" cy="4160520"/>
          </a:xfrm>
          <a:prstGeom prst="roundRect">
            <a:avLst>
              <a:gd name="adj" fmla="val 2637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C:\Users\sachi\AppData\Local\Temp\opencode\latency-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6309360" cy="3154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46720" y="1600200"/>
            <a:ext cx="3685032" cy="1170432"/>
          </a:xfrm>
          <a:prstGeom prst="roundRect">
            <a:avLst>
              <a:gd name="adj" fmla="val 9375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75320" y="169164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7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~4ms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2258568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embedding-only answer on a simple ask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46720" y="2971800"/>
            <a:ext cx="3685032" cy="1170432"/>
          </a:xfrm>
          <a:prstGeom prst="roundRect">
            <a:avLst>
              <a:gd name="adj" fmla="val 9375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75320" y="306324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A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3630168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model wakes for greetings / small talk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46720" y="4343400"/>
            <a:ext cx="3685032" cy="1170432"/>
          </a:xfrm>
          <a:prstGeom prst="roundRect">
            <a:avLst>
              <a:gd name="adj" fmla="val 9375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275320" y="443484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12,000×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5001768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work than asking the 3B for "thanks!"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measured on the demo rig, not a slide promise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CLOUD, NO TELEMETRY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design, offline by default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8308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2EA043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0" descr="C:\Users\sachi\AppData\Local\Temp\opencode\icon-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928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5727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dependency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92024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serves both models from localhost; the app talks to it over a loopback IPC bridge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88036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85800" y="32004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2EA043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13" name="Image 1" descr="C:\Users\sachi\AppData\Local\Temp\opencode\icon-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31012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17320" y="299008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telemetry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417320" y="333756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edits, and decisions never leave the machine — nothing is phoned home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4297680"/>
            <a:ext cx="6583680" cy="1188720"/>
          </a:xfrm>
          <a:prstGeom prst="roundRect">
            <a:avLst>
              <a:gd name="adj" fmla="val 9231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461772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2EA043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18" name="Image 2" descr="C:\Users\sachi\AppData\Local\Temp\opencode\icon-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72744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440740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runtime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417320" y="475488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installer + two local models; runs on a demo laptop with no server in sight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406640" y="1463040"/>
            <a:ext cx="4325112" cy="4434840"/>
          </a:xfrm>
          <a:prstGeom prst="roundRect">
            <a:avLst>
              <a:gd name="adj" fmla="val 2537"/>
            </a:avLst>
          </a:prstGeom>
          <a:solidFill>
            <a:srgbClr val="0D0D12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768096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768096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A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qwen2.5:3b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7680960" y="2441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· ~3B params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768096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A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nomic-embed-text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7680960" y="3493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· embeddings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768096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A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Ollama</a:t>
            </a:r>
            <a:endParaRPr lang="en-US" sz="1350" dirty="0"/>
          </a:p>
        </p:txBody>
      </p:sp>
      <p:sp>
        <p:nvSpPr>
          <p:cNvPr id="28" name="Text 23"/>
          <p:cNvSpPr txBox="1"/>
          <p:nvPr/>
        </p:nvSpPr>
        <p:spPr>
          <a:xfrm>
            <a:off x="7680960" y="4544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server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680960" y="5257800"/>
            <a:ext cx="3703320" cy="502920"/>
          </a:xfrm>
          <a:prstGeom prst="roundRect">
            <a:avLst>
              <a:gd name="adj" fmla="val 50000"/>
            </a:avLst>
          </a:prstGeom>
          <a:solidFill>
            <a:srgbClr val="2EA043"/>
          </a:solidFill>
          <a:ln w="12700">
            <a:solidFill>
              <a:srgbClr val="2E2E40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680960" y="52578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&amp; verified on demo rig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the privacy headline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DEMO'S PIVOTAL MOVE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any screen, in one ask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the hero title bigger and accent-colored, then add a badge under it” — the exact pre-filled prompt.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12898" cy="3017520"/>
          </a:xfrm>
          <a:prstGeom prst="roundRect">
            <a:avLst>
              <a:gd name="adj" fmla="val 419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97889" y="205740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9" name="Image 0" descr="C:\Users\sachi\AppData\Local\Temp\opencode\icon-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193" y="2203704"/>
            <a:ext cx="438912" cy="4389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" y="2971800"/>
            <a:ext cx="2247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type the ask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383280"/>
            <a:ext cx="2155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English. no structured commands.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44418" y="1828800"/>
            <a:ext cx="2612898" cy="3017520"/>
          </a:xfrm>
          <a:prstGeom prst="roundRect">
            <a:avLst>
              <a:gd name="adj" fmla="val 419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85107" y="205740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14" name="Image 1" descr="C:\Users\sachi\AppData\Local\Temp\opencode\icon-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411" y="220370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27298" y="2971800"/>
            <a:ext cx="2247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gate roams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573018" y="3383280"/>
            <a:ext cx="2155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says: build-y intent → 3B wakes with a typed contract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31636" y="1828800"/>
            <a:ext cx="2612898" cy="3017520"/>
          </a:xfrm>
          <a:prstGeom prst="roundRect">
            <a:avLst>
              <a:gd name="adj" fmla="val 419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72325" y="205740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19" name="Image 2" descr="C:\Users\sachi\AppData\Local\Temp\opencode\icon-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629" y="220370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14516" y="2971800"/>
            <a:ext cx="2247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propose ops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460236" y="3383280"/>
            <a:ext cx="2155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PatchOps validated and applied to the live model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118854" y="1828800"/>
            <a:ext cx="2612898" cy="3017520"/>
          </a:xfrm>
          <a:prstGeom prst="roundRect">
            <a:avLst>
              <a:gd name="adj" fmla="val 419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059543" y="205740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24" name="Image 3" descr="C:\Users\sachi\AppData\Local\Temp\opencode\icon-un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5847" y="2203704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01734" y="2971800"/>
            <a:ext cx="2247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keep or undo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347454" y="3383280"/>
            <a:ext cx="2155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updates live; Stitch unwinds with one key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57200" y="5166360"/>
            <a:ext cx="11274552" cy="868680"/>
          </a:xfrm>
          <a:prstGeom prst="roundRect">
            <a:avLst>
              <a:gd name="adj" fmla="val 12632"/>
            </a:avLst>
          </a:prstGeom>
          <a:solidFill>
            <a:srgbClr val="22222F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777240" y="5358384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prompt is pre-filled in the tour (step 2) — you never have to improvise live.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the demo's pivotal moment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90-SECOND JUDGING SCRIPT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happen: see → edit → undo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54396" cy="4434840"/>
          </a:xfrm>
          <a:prstGeom prst="roundRect">
            <a:avLst>
              <a:gd name="adj" fmla="val 2474"/>
            </a:avLst>
          </a:prstGeom>
          <a:solidFill>
            <a:srgbClr val="0B0B10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48132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see it</a:t>
            </a:r>
            <a:endParaRPr lang="en-US" sz="1200" dirty="0"/>
          </a:p>
        </p:txBody>
      </p:sp>
      <p:pic>
        <p:nvPicPr>
          <p:cNvPr id="8" name="Image 0" descr="C:\Users\sachi\AppData\Local\Temp\opencode\demo-before-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4539996" cy="3749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5623560"/>
            <a:ext cx="4905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renders from source, live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77356" y="1371600"/>
            <a:ext cx="5454396" cy="4434840"/>
          </a:xfrm>
          <a:prstGeom prst="roundRect">
            <a:avLst>
              <a:gd name="adj" fmla="val 2474"/>
            </a:avLst>
          </a:prstGeom>
          <a:solidFill>
            <a:srgbClr val="0B0B10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551676" y="1481328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edit it</a:t>
            </a:r>
            <a:endParaRPr lang="en-US" sz="1200" dirty="0"/>
          </a:p>
        </p:txBody>
      </p:sp>
      <p:pic>
        <p:nvPicPr>
          <p:cNvPr id="12" name="Image 1" descr="C:\Users\sachi\AppData\Local\Temp\opencode\demo-after-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1783080"/>
            <a:ext cx="4539996" cy="3749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51676" y="5623560"/>
            <a:ext cx="4905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English ask → the screen changes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undo it — one key sends every op back. no memory re-parse. history is real.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every teammate's rehearsal card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REHEARSED FAILURE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something hiccups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74552" cy="841248"/>
          </a:xfrm>
          <a:prstGeom prst="roundRect">
            <a:avLst>
              <a:gd name="adj" fmla="val 13043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5087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not running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837944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tours 1 &amp; 3 still work (load + undo); skip the gate beat; say edits are shown as DSL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994392" y="1618488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2EA043"/>
          </a:solidFill>
          <a:ln w="12700">
            <a:solidFill>
              <a:srgbClr val="2E2E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994392" y="161848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11274552" cy="841248"/>
          </a:xfrm>
          <a:prstGeom prst="roundRect">
            <a:avLst>
              <a:gd name="adj" fmla="val 13043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436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597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model slow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88920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 loads it into RAM — verbalize it, keep moving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994392" y="2569464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 w="12700">
            <a:solidFill>
              <a:srgbClr val="2E2E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94392" y="256946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19272"/>
            <a:ext cx="11274552" cy="841248"/>
          </a:xfrm>
          <a:prstGeom prst="roundRect">
            <a:avLst>
              <a:gd name="adj" fmla="val 13043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9436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4107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Wi-Fi / no adapter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739896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local by design — this is our advantage, say it with a smile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994392" y="3520440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2EA043"/>
          </a:solidFill>
          <a:ln w="12700">
            <a:solidFill>
              <a:srgbClr val="2E2E4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94392" y="35204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270248"/>
            <a:ext cx="11274552" cy="841248"/>
          </a:xfrm>
          <a:prstGeom prst="roundRect">
            <a:avLst>
              <a:gd name="adj" fmla="val 13043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943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3616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gives a useless patch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690872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apply it; say 'see, it proposed; I choose not to take it' — that's the point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994392" y="4471416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 w="12700">
            <a:solidFill>
              <a:srgbClr val="2E2E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94392" y="447141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5221224"/>
            <a:ext cx="11274552" cy="841248"/>
          </a:xfrm>
          <a:prstGeom prst="roundRect">
            <a:avLst>
              <a:gd name="adj" fmla="val 13043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594360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53126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is off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5641848"/>
            <a:ext cx="8622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tour is visual; the one-pager carries the verbal beats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994392" y="5422392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 w="12700">
            <a:solidFill>
              <a:srgbClr val="2E2E4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994392" y="54223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11b · failure is rehearsed, not surprising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QUESTIONS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they'll fish for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500116" cy="1234440"/>
          </a:xfrm>
          <a:prstGeom prst="roundRect">
            <a:avLst>
              <a:gd name="adj" fmla="val 888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527048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model is under it?”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50429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qwen2.5:3b for decisions, nomic-embed-text for the gate. Both local.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417320"/>
            <a:ext cx="5500116" cy="1234440"/>
          </a:xfrm>
          <a:prstGeom prst="roundRect">
            <a:avLst>
              <a:gd name="adj" fmla="val 888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60236" y="1527048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not a bigger model?”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60236" y="1920240"/>
            <a:ext cx="50429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couldn't run offline on the judges' laptop — and most asks are simple, so a gate + 3B is the honest weight class.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5500116" cy="1234440"/>
          </a:xfrm>
          <a:prstGeom prst="roundRect">
            <a:avLst>
              <a:gd name="adj" fmla="val 888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2944368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undo really undoing AI?”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337560"/>
            <a:ext cx="50429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every edit is a PatchOp with an inverse; Stitch rewinds the exact ops.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1636" y="2834640"/>
            <a:ext cx="5500116" cy="1234440"/>
          </a:xfrm>
          <a:prstGeom prst="roundRect">
            <a:avLst>
              <a:gd name="adj" fmla="val 888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60236" y="2944368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“Where's the cloud?”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60236" y="3337560"/>
            <a:ext cx="50429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none. Loopback IPC to localhost Ollama. The demo survives airplane mode.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5500116" cy="1234440"/>
          </a:xfrm>
          <a:prstGeom prst="roundRect">
            <a:avLst>
              <a:gd name="adj" fmla="val 888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5800" y="4361688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it generate real code?”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754880"/>
            <a:ext cx="50429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single-file web app export and Kotlin templates already exist.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31636" y="4251960"/>
            <a:ext cx="5500116" cy="1234440"/>
          </a:xfrm>
          <a:prstGeom prst="roundRect">
            <a:avLst>
              <a:gd name="adj" fmla="val 888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60236" y="4361688"/>
            <a:ext cx="5042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was the hardest bug?”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60236" y="4754880"/>
            <a:ext cx="50429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parser that never throws: unknown words become 'did you mean', never a crash.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prep the whole team on all six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TEAMMATES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60-second language, compressed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6035040" cy="4160520"/>
          </a:xfrm>
          <a:prstGeom prst="roundRect">
            <a:avLst>
              <a:gd name="adj" fmla="val 2637"/>
            </a:avLst>
          </a:prstGeom>
          <a:solidFill>
            <a:srgbClr val="0E0E15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299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page Home {
</a:t>
            </a:r>
            <a:pPr indent="0" marL="0">
              <a:buNone/>
            </a:pPr>
            <a:r>
              <a:rPr lang="en-US" sz="1250" dirty="0">
                <a:solidFill>
                  <a:srgbClr val="C9C9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stack hero {
</a:t>
            </a:r>
            <a:pPr indent="0" marL="0">
              <a:buNone/>
            </a:pPr>
            <a:r>
              <a:rPr lang="en-US" sz="1250" dirty="0">
                <a:solidFill>
                  <a:srgbClr val="EDED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heading "Any screen you can imagine"
</a:t>
            </a:r>
            <a:pPr indent="0" marL="0">
              <a:buNone/>
            </a:pPr>
            <a:r>
              <a:rPr lang="en-US" sz="1250" dirty="0">
                <a:solidFill>
                  <a:srgbClr val="2EA04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button "Try Claro" { variant: primary }
</a:t>
            </a:r>
            <a:pPr indent="0" marL="0">
              <a:buNone/>
            </a:pPr>
            <a:r>
              <a:rPr lang="en-US" sz="1250" dirty="0">
                <a:solidFill>
                  <a:srgbClr val="2A7A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badge "edge AI" { variant: accent }
</a:t>
            </a:r>
            <a:pPr indent="0" marL="0">
              <a:buNone/>
            </a:pPr>
            <a:r>
              <a:rPr lang="en-US" sz="1250" dirty="0">
                <a:solidFill>
                  <a:srgbClr val="C9C9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
</a:t>
            </a:r>
            <a:pPr indent="0" marL="0">
              <a:buNone/>
            </a:pPr>
            <a:r>
              <a:rPr lang="en-US" sz="1250" dirty="0">
                <a:solidFill>
                  <a:srgbClr val="C9C9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
</a:t>
            </a:r>
            <a:pPr indent="0" marL="0">
              <a:buNone/>
            </a:pPr>
            <a:r>
              <a:rPr lang="en-US" sz="1250" dirty="0">
                <a:solidFill>
                  <a:srgbClr val="8A8A9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make the hero pop
</a:t>
            </a:r>
            <a:pPr indent="0" marL="0">
              <a:buNone/>
            </a:pPr>
            <a:r>
              <a:rPr lang="en-US" sz="1250" dirty="0">
                <a:solidFill>
                  <a:srgbClr val="8F6C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component Hero(title: string) { }
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170992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blocks: page, section, container, layouts, heading, text, button, badge, card, navbar, input, textarea, form, modal, image, spacer, divider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2267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12280" y="256032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gap padding margin color background align justify weight width height radius border shadow opacity effect animation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31181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34107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column=stack · flex=row · line/para=text · separator=divider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396849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426110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Hero(title: string) { … }; then Hero "Hi" anywhere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48188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511149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make the hero pop → double-click → BHASM classifies the intent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full copy: docs/claro-cheatsheet.md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layers, one monorepo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12898" cy="3566160"/>
          </a:xfrm>
          <a:prstGeom prst="roundRect">
            <a:avLst>
              <a:gd name="adj" fmla="val 419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97889" y="164592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0" descr="C:\Users\sachi\AppData\Local\Temp\opencode\icon-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193" y="1792224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560320"/>
            <a:ext cx="2247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971800"/>
            <a:ext cx="21556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+ React: editor, preview, inspector, command palette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44418" y="1417320"/>
            <a:ext cx="2612898" cy="3566160"/>
          </a:xfrm>
          <a:prstGeom prst="roundRect">
            <a:avLst>
              <a:gd name="adj" fmla="val 419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85107" y="164592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13" name="Image 1" descr="C:\Users\sachi\AppData\Local\Temp\opencode\icon-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411" y="179222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27298" y="2560320"/>
            <a:ext cx="2247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 { DSL } engine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73018" y="2971800"/>
            <a:ext cx="21556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forgiving parser · project model with stable IDs · PatchOp apply/undo · codegen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31636" y="1417320"/>
            <a:ext cx="2612898" cy="3566160"/>
          </a:xfrm>
          <a:prstGeom prst="roundRect">
            <a:avLst>
              <a:gd name="adj" fmla="val 419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72325" y="164592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18" name="Image 2" descr="C:\Users\sachi\AppData\Local\Temp\opencode\icon-sm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629" y="179222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14516" y="2560320"/>
            <a:ext cx="2247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BHASM (AI)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460236" y="2971800"/>
            <a:ext cx="21556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layer (ask/code/review/chat) · guardrail · Claro Gate · metrics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118854" y="1417320"/>
            <a:ext cx="2612898" cy="3566160"/>
          </a:xfrm>
          <a:prstGeom prst="roundRect">
            <a:avLst>
              <a:gd name="adj" fmla="val 4199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59543" y="164592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23" name="Image 3" descr="C:\Users\sachi\AppData\Local\Temp\opencode\icon-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5847" y="1792224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301734" y="2560320"/>
            <a:ext cx="2247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stack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9347454" y="2971800"/>
            <a:ext cx="21556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localhost → qwen2.5:3b + nomic-embed-text · optional graphify sidecar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57200" y="5212080"/>
            <a:ext cx="11274552" cy="822960"/>
          </a:xfrm>
          <a:prstGeom prst="roundRect">
            <a:avLst>
              <a:gd name="adj" fmla="val 13333"/>
            </a:avLst>
          </a:prstGeom>
          <a:solidFill>
            <a:srgbClr val="22222F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777240" y="539496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D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apps/ide (Electron) · packages/dsl (parser+engine) · packages/ai (decisions) · packages/android (codegen)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point at this when they ask 'how is it structured?'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32258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" b="1" dirty="0">
                <a:solidFill>
                  <a:srgbClr val="0D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5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560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RECEIPTS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475488"/>
            <a:ext cx="10954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hashes we can prove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500116" cy="1691640"/>
          </a:xfrm>
          <a:prstGeom prst="roundRect">
            <a:avLst>
              <a:gd name="adj" fmla="val 6486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28800"/>
            <a:ext cx="594360" cy="594360"/>
          </a:xfrm>
          <a:prstGeom prst="roundRect">
            <a:avLst>
              <a:gd name="adj" fmla="val 36923"/>
            </a:avLst>
          </a:prstGeom>
          <a:solidFill>
            <a:srgbClr val="2EA043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8" name="Image 0" descr="C:\Users\sachi\AppData\Local\Temp\opencode\ico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47672"/>
            <a:ext cx="356616" cy="35661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847088"/>
            <a:ext cx="4174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86000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passing across DSL, AI, and IDE — the parser and patch engine are regression-guarded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31636" y="1463040"/>
            <a:ext cx="5500116" cy="1691640"/>
          </a:xfrm>
          <a:prstGeom prst="roundRect">
            <a:avLst>
              <a:gd name="adj" fmla="val 6486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05956" y="1828800"/>
            <a:ext cx="594360" cy="594360"/>
          </a:xfrm>
          <a:prstGeom prst="roundRect">
            <a:avLst>
              <a:gd name="adj" fmla="val 36923"/>
            </a:avLst>
          </a:prstGeom>
          <a:solidFill>
            <a:srgbClr val="2EA043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13" name="Image 1" descr="C:\Users\sachi\AppData\Local\Temp\opencode\icon-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828" y="1947672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3196" y="1847088"/>
            <a:ext cx="4174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verified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505956" y="2286000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this rig: greetings never wake the 3B model, deep asks do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383280"/>
            <a:ext cx="5500116" cy="1691640"/>
          </a:xfrm>
          <a:prstGeom prst="roundRect">
            <a:avLst>
              <a:gd name="adj" fmla="val 6486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749040"/>
            <a:ext cx="594360" cy="594360"/>
          </a:xfrm>
          <a:prstGeom prst="roundRect">
            <a:avLst>
              <a:gd name="adj" fmla="val 36923"/>
            </a:avLst>
          </a:prstGeom>
          <a:solidFill>
            <a:srgbClr val="2EA043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18" name="Image 2" descr="C:\Users\sachi\AppData\Local\Temp\opencode\icon-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867912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3767328"/>
            <a:ext cx="4174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strip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4206240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counts: X/Y decisions skipped 3B, avg latency, epoch reset per run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31636" y="3383280"/>
            <a:ext cx="5500116" cy="1691640"/>
          </a:xfrm>
          <a:prstGeom prst="roundRect">
            <a:avLst>
              <a:gd name="adj" fmla="val 6486"/>
            </a:avLst>
          </a:prstGeom>
          <a:solidFill>
            <a:srgbClr val="1A1A26"/>
          </a:solidFill>
          <a:ln w="12700">
            <a:solidFill>
              <a:srgbClr val="2E2E4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05956" y="3749040"/>
            <a:ext cx="594360" cy="594360"/>
          </a:xfrm>
          <a:prstGeom prst="roundRect">
            <a:avLst>
              <a:gd name="adj" fmla="val 36923"/>
            </a:avLst>
          </a:prstGeom>
          <a:solidFill>
            <a:srgbClr val="2EA043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23" name="Image 3" descr="C:\Users\sachi\AppData\Local\Temp\opencode\icon-githu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3867912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83196" y="3767328"/>
            <a:ext cx="4174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505956" y="4206240"/>
            <a:ext cx="49514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Win64 EXEs via electron-builder — not a dev-mode screenshot demo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numbers yourself — every claim has a command behind it.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the receipts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achi\AppData\Local\Temp\opencode\aurora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2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54396" y="914400"/>
            <a:ext cx="1280160" cy="1280160"/>
          </a:xfrm>
          <a:prstGeom prst="roundRect">
            <a:avLst>
              <a:gd name="adj" fmla="val 17143"/>
            </a:avLst>
          </a:prstGeom>
          <a:solidFill>
            <a:srgbClr val="2A7ADE"/>
          </a:solidFill>
          <a:ln w="6350">
            <a:solidFill>
              <a:srgbClr val="2E2E4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0"/>
              </a:srgbClr>
            </a:outerShdw>
          </a:effectLst>
        </p:spPr>
      </p:sp>
      <p:pic>
        <p:nvPicPr>
          <p:cNvPr id="5" name="Image 1" descr="C:\Users\sachi\AppData\Local\Temp\opencode\icon-win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428" y="1170432"/>
            <a:ext cx="768096" cy="7680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246888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D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it. edit it. undo it. all offline.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4747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model, a smart gate, and real undo for AI edits.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tour with Ctrl+Shift+J · hand judges the one-pager · let the laptop carry the demo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54710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go tell the story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365992" y="438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CLARO — on-device reversible AI workbench</dc:title>
  <dc:subject>PptxGenJS Presentation</dc:subject>
  <dc:creator>Claro Workbench</dc:creator>
  <cp:lastModifiedBy>Claro Workbench</cp:lastModifiedBy>
  <cp:revision>1</cp:revision>
  <dcterms:created xsi:type="dcterms:W3CDTF">2026-09-28T05:22:03Z</dcterms:created>
  <dcterms:modified xsi:type="dcterms:W3CDTF">2026-09-28T05:22:03Z</dcterms:modified>
</cp:coreProperties>
</file>